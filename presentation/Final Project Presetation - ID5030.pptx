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Open Sans SemiBold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20034C-0543-4219-980B-697185BECB67}">
  <a:tblStyle styleId="{1420034C-0543-4219-980B-697185BECB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6ECFAF6-B85D-457E-8DA2-AC6C7DA3E00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1F6347D-4881-4EB9-AE7B-9D2230DB287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bold.fntdata"/><Relationship Id="rId22" Type="http://schemas.openxmlformats.org/officeDocument/2006/relationships/font" Target="fonts/OpenSansSemiBold-boldItalic.fntdata"/><Relationship Id="rId21" Type="http://schemas.openxmlformats.org/officeDocument/2006/relationships/font" Target="fonts/OpenSansSemiBold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penSans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953865fc0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953865fc0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989e1c4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989e1c4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98a288f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98a288f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c8cc0a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c8cc0a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98a288f4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98a288f4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ada29f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ada29f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98e30e70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98e30e70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8a288f4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98a288f4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8a288f4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98a288f4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98a288f4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98a288f4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98a288f4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98a288f4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98e30e70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98e30e7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954550" y="984775"/>
            <a:ext cx="3294300" cy="39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4"/>
          <p:cNvCxnSpPr/>
          <p:nvPr/>
        </p:nvCxnSpPr>
        <p:spPr>
          <a:xfrm>
            <a:off x="3350" y="937925"/>
            <a:ext cx="9154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" name="Google Shape;32;p5"/>
          <p:cNvCxnSpPr/>
          <p:nvPr/>
        </p:nvCxnSpPr>
        <p:spPr>
          <a:xfrm>
            <a:off x="3350" y="937925"/>
            <a:ext cx="9154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6"/>
          <p:cNvCxnSpPr/>
          <p:nvPr/>
        </p:nvCxnSpPr>
        <p:spPr>
          <a:xfrm>
            <a:off x="3350" y="937925"/>
            <a:ext cx="9154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800"/>
              <a:buFont typeface="Open Sans SemiBold"/>
              <a:buNone/>
              <a:defRPr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-39500" y="5002800"/>
            <a:ext cx="9183600" cy="140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87825" y="80825"/>
            <a:ext cx="773074" cy="77307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8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Image Captioning for Remote Sensing</a:t>
            </a:r>
            <a:endParaRPr sz="4380">
              <a:solidFill>
                <a:srgbClr val="98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Using CNN &amp; Transformer Architectures for Remote Sensing Intelligence</a:t>
            </a:r>
            <a:endParaRPr>
              <a:solidFill>
                <a:srgbClr val="59595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124489" y="3994100"/>
            <a:ext cx="28950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Saptajit Banerjee – ID25S001 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96100" cy="139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995658"/>
            <a:ext cx="8520600" cy="38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b="1" lang="en" sz="1750">
                <a:solidFill>
                  <a:srgbClr val="980000"/>
                </a:solidFill>
              </a:rPr>
              <a:t>Context :</a:t>
            </a:r>
            <a:r>
              <a:rPr lang="en" sz="1750">
                <a:solidFill>
                  <a:schemeClr val="dk1"/>
                </a:solidFill>
              </a:rPr>
              <a:t> The rapid expansion of high-resolution remote sensing imagery requires automated captioning systems to accelerate intelligence gathering and disaster management.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b="1" lang="en" sz="1750">
                <a:solidFill>
                  <a:srgbClr val="980000"/>
                </a:solidFill>
              </a:rPr>
              <a:t>Domain Challenge :</a:t>
            </a:r>
            <a:r>
              <a:rPr lang="en" sz="1750">
                <a:solidFill>
                  <a:schemeClr val="dk1"/>
                </a:solidFill>
              </a:rPr>
              <a:t> Satellite images are significantly harder to process than normal photos due to their </a:t>
            </a:r>
            <a:r>
              <a:rPr lang="en" sz="1750">
                <a:solidFill>
                  <a:srgbClr val="FF0000"/>
                </a:solidFill>
              </a:rPr>
              <a:t>top-down angles</a:t>
            </a:r>
            <a:r>
              <a:rPr lang="en" sz="1750">
                <a:solidFill>
                  <a:schemeClr val="dk1"/>
                </a:solidFill>
              </a:rPr>
              <a:t>, </a:t>
            </a:r>
            <a:r>
              <a:rPr lang="en" sz="1750">
                <a:solidFill>
                  <a:srgbClr val="FF0000"/>
                </a:solidFill>
              </a:rPr>
              <a:t>tiny crowded objects</a:t>
            </a:r>
            <a:r>
              <a:rPr lang="en" sz="1750">
                <a:solidFill>
                  <a:schemeClr val="dk1"/>
                </a:solidFill>
              </a:rPr>
              <a:t>, and </a:t>
            </a:r>
            <a:r>
              <a:rPr lang="en" sz="1750">
                <a:solidFill>
                  <a:srgbClr val="FF0000"/>
                </a:solidFill>
              </a:rPr>
              <a:t>complex spatial layouts</a:t>
            </a:r>
            <a:r>
              <a:rPr lang="en" sz="1750">
                <a:solidFill>
                  <a:schemeClr val="dk1"/>
                </a:solidFill>
              </a:rPr>
              <a:t>.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b="1" lang="en" sz="1750">
                <a:solidFill>
                  <a:srgbClr val="980000"/>
                </a:solidFill>
              </a:rPr>
              <a:t>Technical Bottleneck :</a:t>
            </a:r>
            <a:r>
              <a:rPr lang="en" sz="1750">
                <a:solidFill>
                  <a:schemeClr val="dk1"/>
                </a:solidFill>
              </a:rPr>
              <a:t> Traditional </a:t>
            </a:r>
            <a:r>
              <a:rPr lang="en" sz="1750">
                <a:solidFill>
                  <a:srgbClr val="980000"/>
                </a:solidFill>
              </a:rPr>
              <a:t>sequence-to-sequence</a:t>
            </a:r>
            <a:r>
              <a:rPr lang="en" sz="1750">
                <a:solidFill>
                  <a:schemeClr val="dk1"/>
                </a:solidFill>
              </a:rPr>
              <a:t> models </a:t>
            </a:r>
            <a:r>
              <a:rPr lang="en" sz="1750">
                <a:solidFill>
                  <a:srgbClr val="980000"/>
                </a:solidFill>
              </a:rPr>
              <a:t>(CNN-LSTM, CNN-GRU)</a:t>
            </a:r>
            <a:r>
              <a:rPr lang="en" sz="1750">
                <a:solidFill>
                  <a:schemeClr val="dk1"/>
                </a:solidFill>
              </a:rPr>
              <a:t> process data sequentially, creating an </a:t>
            </a:r>
            <a:r>
              <a:rPr lang="en" sz="1750">
                <a:solidFill>
                  <a:srgbClr val="980000"/>
                </a:solidFill>
              </a:rPr>
              <a:t>information bottleneck</a:t>
            </a:r>
            <a:r>
              <a:rPr lang="en" sz="1750">
                <a:solidFill>
                  <a:schemeClr val="dk1"/>
                </a:solidFill>
              </a:rPr>
              <a:t> that fails to capture the full context of an image.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50"/>
              <a:buChar char="●"/>
            </a:pPr>
            <a:r>
              <a:rPr b="1" lang="en" sz="1750">
                <a:solidFill>
                  <a:srgbClr val="980000"/>
                </a:solidFill>
              </a:rPr>
              <a:t>The Proposed Architecture :</a:t>
            </a:r>
            <a:r>
              <a:rPr lang="en" sz="1750">
                <a:solidFill>
                  <a:schemeClr val="dk1"/>
                </a:solidFill>
              </a:rPr>
              <a:t> A hybrid approach where a </a:t>
            </a:r>
            <a:r>
              <a:rPr lang="en" sz="1750">
                <a:solidFill>
                  <a:srgbClr val="980000"/>
                </a:solidFill>
              </a:rPr>
              <a:t>CNN</a:t>
            </a:r>
            <a:r>
              <a:rPr lang="en" sz="1750">
                <a:solidFill>
                  <a:schemeClr val="dk1"/>
                </a:solidFill>
              </a:rPr>
              <a:t> extracts spatial features from the image, which are then fed into a </a:t>
            </a:r>
            <a:r>
              <a:rPr lang="en" sz="1750">
                <a:solidFill>
                  <a:srgbClr val="980000"/>
                </a:solidFill>
              </a:rPr>
              <a:t>Transformer</a:t>
            </a:r>
            <a:r>
              <a:rPr lang="en" sz="1750">
                <a:solidFill>
                  <a:schemeClr val="dk1"/>
                </a:solidFill>
              </a:rPr>
              <a:t>. The Transformer uses </a:t>
            </a:r>
            <a:r>
              <a:rPr lang="en" sz="1750">
                <a:solidFill>
                  <a:srgbClr val="980000"/>
                </a:solidFill>
              </a:rPr>
              <a:t>Attention mechanisms</a:t>
            </a:r>
            <a:r>
              <a:rPr lang="en" sz="1750">
                <a:solidFill>
                  <a:schemeClr val="dk1"/>
                </a:solidFill>
              </a:rPr>
              <a:t> to bypass </a:t>
            </a:r>
            <a:r>
              <a:rPr lang="en" sz="1750">
                <a:solidFill>
                  <a:srgbClr val="980000"/>
                </a:solidFill>
              </a:rPr>
              <a:t>sequential bottlenecks</a:t>
            </a:r>
            <a:r>
              <a:rPr lang="en" sz="1750">
                <a:solidFill>
                  <a:schemeClr val="dk1"/>
                </a:solidFill>
              </a:rPr>
              <a:t> and directly map those visual features to accurate text.</a:t>
            </a:r>
            <a:endParaRPr sz="1750">
              <a:solidFill>
                <a:schemeClr val="dk1"/>
              </a:solidFill>
            </a:endParaRPr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944200"/>
            <a:ext cx="8520600" cy="40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980000"/>
                </a:solidFill>
              </a:rPr>
              <a:t>Baseline Evaluation (Phase 1) :</a:t>
            </a:r>
            <a:r>
              <a:rPr lang="en">
                <a:solidFill>
                  <a:schemeClr val="dk1"/>
                </a:solidFill>
              </a:rPr>
              <a:t> Rigorously benchmark traditional </a:t>
            </a:r>
            <a:r>
              <a:rPr lang="en">
                <a:solidFill>
                  <a:srgbClr val="980000"/>
                </a:solidFill>
              </a:rPr>
              <a:t>recurrent models</a:t>
            </a:r>
            <a:r>
              <a:rPr lang="en">
                <a:solidFill>
                  <a:schemeClr val="dk1"/>
                </a:solidFill>
              </a:rPr>
              <a:t> against a baseline </a:t>
            </a:r>
            <a:r>
              <a:rPr lang="en">
                <a:solidFill>
                  <a:srgbClr val="980000"/>
                </a:solidFill>
              </a:rPr>
              <a:t>Transformer</a:t>
            </a:r>
            <a:r>
              <a:rPr lang="en">
                <a:solidFill>
                  <a:schemeClr val="dk1"/>
                </a:solidFill>
              </a:rPr>
              <a:t> on the </a:t>
            </a:r>
            <a:r>
              <a:rPr lang="en">
                <a:solidFill>
                  <a:srgbClr val="980000"/>
                </a:solidFill>
              </a:rPr>
              <a:t>Flickr8K</a:t>
            </a:r>
            <a:r>
              <a:rPr lang="en">
                <a:solidFill>
                  <a:schemeClr val="dk1"/>
                </a:solidFill>
              </a:rPr>
              <a:t> dataset to establish architectural superiority.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980000"/>
                </a:solidFill>
              </a:rPr>
              <a:t>Advance Multi-Modal Learning :</a:t>
            </a:r>
            <a:r>
              <a:rPr lang="en">
                <a:solidFill>
                  <a:schemeClr val="dk1"/>
                </a:solidFill>
              </a:rPr>
              <a:t> Bridge the semantic gap between </a:t>
            </a:r>
            <a:r>
              <a:rPr lang="en">
                <a:solidFill>
                  <a:srgbClr val="980000"/>
                </a:solidFill>
              </a:rPr>
              <a:t>computer vision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980000"/>
                </a:solidFill>
              </a:rPr>
              <a:t>NLP</a:t>
            </a:r>
            <a:r>
              <a:rPr lang="en">
                <a:solidFill>
                  <a:schemeClr val="dk1"/>
                </a:solidFill>
              </a:rPr>
              <a:t> by designing a custom </a:t>
            </a:r>
            <a:r>
              <a:rPr lang="en">
                <a:solidFill>
                  <a:srgbClr val="980000"/>
                </a:solidFill>
              </a:rPr>
              <a:t>Transformer </a:t>
            </a:r>
            <a:r>
              <a:rPr lang="en">
                <a:solidFill>
                  <a:schemeClr val="dk1"/>
                </a:solidFill>
              </a:rPr>
              <a:t>capable of mapping complex remote sensing imagery to fluent text.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980000"/>
                </a:solidFill>
              </a:rPr>
              <a:t>Architectural Optimization : </a:t>
            </a:r>
            <a:r>
              <a:rPr lang="en">
                <a:solidFill>
                  <a:schemeClr val="dk1"/>
                </a:solidFill>
              </a:rPr>
              <a:t>Enhance the multi-modal pipeline by integrating an </a:t>
            </a:r>
            <a:r>
              <a:rPr lang="en">
                <a:solidFill>
                  <a:srgbClr val="980000"/>
                </a:solidFill>
              </a:rPr>
              <a:t>EfficientNetB7</a:t>
            </a:r>
            <a:r>
              <a:rPr lang="en">
                <a:solidFill>
                  <a:schemeClr val="dk1"/>
                </a:solidFill>
              </a:rPr>
              <a:t> backbone, </a:t>
            </a:r>
            <a:r>
              <a:rPr lang="en">
                <a:solidFill>
                  <a:srgbClr val="980000"/>
                </a:solidFill>
              </a:rPr>
              <a:t>SiLU</a:t>
            </a:r>
            <a:r>
              <a:rPr lang="en">
                <a:solidFill>
                  <a:schemeClr val="dk1"/>
                </a:solidFill>
              </a:rPr>
              <a:t> activations, increased </a:t>
            </a:r>
            <a:r>
              <a:rPr lang="en">
                <a:solidFill>
                  <a:srgbClr val="980000"/>
                </a:solidFill>
              </a:rPr>
              <a:t>encoder-decoder depth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980000"/>
                </a:solidFill>
              </a:rPr>
              <a:t>multiple attention heads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980000"/>
                </a:solidFill>
              </a:rPr>
              <a:t>Manual Label Smoothing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rgbClr val="980000"/>
                </a:solidFill>
              </a:rPr>
              <a:t>Real-World Validation (Zero-Shot) : </a:t>
            </a:r>
            <a:r>
              <a:rPr lang="en">
                <a:solidFill>
                  <a:schemeClr val="dk1"/>
                </a:solidFill>
              </a:rPr>
              <a:t>Evaluate the final model’s robustness through </a:t>
            </a:r>
            <a:r>
              <a:rPr lang="en">
                <a:solidFill>
                  <a:srgbClr val="980000"/>
                </a:solidFill>
              </a:rPr>
              <a:t>out-of-distribution (OOD) testing</a:t>
            </a:r>
            <a:r>
              <a:rPr lang="en">
                <a:solidFill>
                  <a:schemeClr val="dk1"/>
                </a:solidFill>
              </a:rPr>
              <a:t> on unannotated, </a:t>
            </a:r>
            <a:r>
              <a:rPr lang="en">
                <a:solidFill>
                  <a:srgbClr val="980000"/>
                </a:solidFill>
              </a:rPr>
              <a:t>real-world satellite imagery</a:t>
            </a:r>
            <a:r>
              <a:rPr lang="en">
                <a:solidFill>
                  <a:schemeClr val="dk1"/>
                </a:solidFill>
              </a:rPr>
              <a:t> from the </a:t>
            </a:r>
            <a:r>
              <a:rPr lang="en">
                <a:solidFill>
                  <a:srgbClr val="980000"/>
                </a:solidFill>
              </a:rPr>
              <a:t>2026 Iran War</a:t>
            </a:r>
            <a:r>
              <a:rPr lang="en">
                <a:solidFill>
                  <a:schemeClr val="dk1"/>
                </a:solidFill>
              </a:rPr>
              <a:t>.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83100" y="222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98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Data Sources</a:t>
            </a:r>
            <a:endParaRPr sz="2800">
              <a:solidFill>
                <a:srgbClr val="980000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11700" y="1005500"/>
            <a:ext cx="39999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Flickr8K — Generic Dataset (GitHub)</a:t>
            </a:r>
            <a:endParaRPr b="1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0833" lvl="0" marL="457200" rtl="0" algn="just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Open Sans"/>
              <a:buChar char="●"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Role:</a:t>
            </a:r>
            <a:r>
              <a:rPr lang="en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baseline — trains all 3 candidate model architectures before domain-specific evaluation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0833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Open Sans"/>
              <a:buChar char="●"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Content:</a:t>
            </a:r>
            <a:r>
              <a:rPr lang="en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8,000 natural photographs with 5 human-written captions each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083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ct val="100000"/>
              <a:buFont typeface="Open Sans"/>
              <a:buChar char="●"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Model Trained:</a:t>
            </a: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CNN-LSTM  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CNN-GRU  ·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Single-Layer Transformer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0833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Open Sans"/>
              <a:buChar char="●"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Purpose:</a:t>
            </a: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Establish baseline performance &amp; select the best architecture for satellite fine-tuning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083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Open Sans"/>
              <a:buChar char="●"/>
            </a:pPr>
            <a:r>
              <a:rPr b="1"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Source:</a:t>
            </a:r>
            <a:r>
              <a:rPr b="1" lang="en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github.com/awsaf49/flickr-dataset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832400" y="961409"/>
            <a:ext cx="39999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Satellite Image Caption Generation (Kaggle)</a:t>
            </a:r>
            <a:endParaRPr b="1" sz="125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Open Sans"/>
              <a:buChar char="●"/>
            </a:pPr>
            <a:r>
              <a:rPr b="1"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Role:</a:t>
            </a:r>
            <a:r>
              <a:rPr lang="en" sz="125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Domain-specific fine-tuning using the best model selected from Flickr8K evaluation</a:t>
            </a:r>
            <a:endParaRPr sz="1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Open Sans"/>
              <a:buChar char="●"/>
            </a:pPr>
            <a:r>
              <a:rPr b="1"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Content:</a:t>
            </a:r>
            <a:r>
              <a:rPr lang="en" sz="1250">
                <a:solidFill>
                  <a:srgbClr val="59595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Remote sensing tiles — airports, forests, residential, industrial, agricultural zones</a:t>
            </a:r>
            <a:endParaRPr sz="1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250"/>
              <a:buFont typeface="Open Sans"/>
              <a:buChar char="●"/>
            </a:pPr>
            <a:r>
              <a:rPr b="1"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Model Trained:</a:t>
            </a:r>
            <a:endParaRPr b="1" sz="125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Open Sans"/>
              <a:buChar char="○"/>
            </a:pPr>
            <a:r>
              <a:rPr lang="en" sz="12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Single-Layer Transformer (best performer on Flickr8K)</a:t>
            </a:r>
            <a:endParaRPr sz="1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Open Sans"/>
              <a:buChar char="○"/>
            </a:pPr>
            <a:r>
              <a:rPr lang="en" sz="12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Multi-Layer Transformer</a:t>
            </a:r>
            <a:endParaRPr sz="1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Open Sans"/>
              <a:buChar char="●"/>
            </a:pPr>
            <a:r>
              <a:rPr b="1"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Goal:</a:t>
            </a:r>
            <a:r>
              <a:rPr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50">
                <a:latin typeface="Open Sans"/>
                <a:ea typeface="Open Sans"/>
                <a:cs typeface="Open Sans"/>
                <a:sym typeface="Open Sans"/>
              </a:rPr>
              <a:t>Produce RS-specific semantic descriptions with domain vocabulary</a:t>
            </a:r>
            <a:endParaRPr sz="1250">
              <a:latin typeface="Open Sans"/>
              <a:ea typeface="Open Sans"/>
              <a:cs typeface="Open Sans"/>
              <a:sym typeface="Open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Open Sans"/>
              <a:buChar char="●"/>
            </a:pPr>
            <a:r>
              <a:rPr b="1"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Source:</a:t>
            </a:r>
            <a:r>
              <a:rPr lang="en" sz="125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5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kaggle.com/datasets/tomtillo/satellite-image-caption-generation</a:t>
            </a:r>
            <a:endParaRPr sz="125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>
            <a:off x="4555667" y="1028704"/>
            <a:ext cx="0" cy="3909000"/>
          </a:xfrm>
          <a:prstGeom prst="straightConnector1">
            <a:avLst/>
          </a:prstGeom>
          <a:noFill/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 Results: Baseline Comparison </a:t>
            </a:r>
            <a:r>
              <a:rPr lang="en"/>
              <a:t>(Flickr8K)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98" name="Google Shape;98;p17"/>
          <p:cNvGraphicFramePr/>
          <p:nvPr/>
        </p:nvGraphicFramePr>
        <p:xfrm>
          <a:off x="185296" y="11190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1619150"/>
                <a:gridCol w="1384050"/>
                <a:gridCol w="1310025"/>
                <a:gridCol w="973100"/>
                <a:gridCol w="972550"/>
                <a:gridCol w="1251775"/>
                <a:gridCol w="1251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VALIDATION ACCURACY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VALIDATION LOSS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GREEDY BLEU-1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GREEDY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BLEU-2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BEAM (k=2)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BLEU-1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BEAM (k=2)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BLEU-2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CNN-LSTM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38.84 %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3.2028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55.70 %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38.93 %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r>
                        <a:rPr lang="en"/>
                        <a:t>.21 %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42.64 %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CNN-GRU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40.53 %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3.1306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55.40 %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37.29 %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59.88 %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41.72 %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SINGLE LAYER TRANSFORMER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</a:rPr>
                        <a:t>41.39 %</a:t>
                      </a:r>
                      <a:endParaRPr b="1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11.2521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</a:rPr>
                        <a:t>58.97 %</a:t>
                      </a:r>
                      <a:endParaRPr b="1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</a:rPr>
                        <a:t>41.35 %</a:t>
                      </a:r>
                      <a:endParaRPr b="1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</a:rPr>
                        <a:t>60.58 %</a:t>
                      </a:r>
                      <a:endParaRPr b="1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8000"/>
                          </a:solidFill>
                        </a:rPr>
                        <a:t>43.12 %</a:t>
                      </a:r>
                      <a:endParaRPr b="1">
                        <a:solidFill>
                          <a:srgbClr val="008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17"/>
          <p:cNvSpPr txBox="1"/>
          <p:nvPr/>
        </p:nvSpPr>
        <p:spPr>
          <a:xfrm>
            <a:off x="205750" y="3438800"/>
            <a:ext cx="8762400" cy="12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8000"/>
                </a:solidFill>
                <a:latin typeface="Open Sans"/>
                <a:ea typeface="Open Sans"/>
                <a:cs typeface="Open Sans"/>
                <a:sym typeface="Open Sans"/>
              </a:rPr>
              <a:t>Transformer Superiority: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Outperformed </a:t>
            </a:r>
            <a:r>
              <a:rPr b="1"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CNN-LSTM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CNN-GRU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baselines because </a:t>
            </a: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Self-Attention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Cross-Attention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directly capture long-term image-text dependencies, completely eliminating the sequential information bottlenecks inherent to </a:t>
            </a:r>
            <a:r>
              <a:rPr lang="en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recurrent models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Multi-Layer Transformer Architecture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379325" y="999300"/>
            <a:ext cx="4641900" cy="395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Vision Extractor Upgrade :</a:t>
            </a:r>
            <a:r>
              <a:rPr lang="en">
                <a:solidFill>
                  <a:schemeClr val="dk1"/>
                </a:solidFill>
              </a:rPr>
              <a:t> Upgraded the </a:t>
            </a:r>
            <a:r>
              <a:rPr lang="en">
                <a:solidFill>
                  <a:srgbClr val="980000"/>
                </a:solidFill>
              </a:rPr>
              <a:t>CNN </a:t>
            </a:r>
            <a:r>
              <a:rPr lang="en">
                <a:solidFill>
                  <a:schemeClr val="dk1"/>
                </a:solidFill>
              </a:rPr>
              <a:t>backbone to </a:t>
            </a:r>
            <a:r>
              <a:rPr lang="en">
                <a:solidFill>
                  <a:srgbClr val="980000"/>
                </a:solidFill>
              </a:rPr>
              <a:t>EfficientNetB7</a:t>
            </a:r>
            <a:r>
              <a:rPr lang="en">
                <a:solidFill>
                  <a:schemeClr val="dk1"/>
                </a:solidFill>
              </a:rPr>
              <a:t> to better capture complex spatial hierarchies. Output features are projected to a 512-embedding dimension using a Dense layer with a </a:t>
            </a:r>
            <a:r>
              <a:rPr lang="en">
                <a:solidFill>
                  <a:srgbClr val="980000"/>
                </a:solidFill>
              </a:rPr>
              <a:t>SiLU (Swish)</a:t>
            </a:r>
            <a:r>
              <a:rPr lang="en">
                <a:solidFill>
                  <a:schemeClr val="dk1"/>
                </a:solidFill>
              </a:rPr>
              <a:t> activation.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Deeper Transformer Stack :</a:t>
            </a:r>
            <a:r>
              <a:rPr lang="en">
                <a:solidFill>
                  <a:schemeClr val="dk1"/>
                </a:solidFill>
              </a:rPr>
              <a:t> Increased architectural depth by stacking 3 </a:t>
            </a:r>
            <a:r>
              <a:rPr lang="en">
                <a:solidFill>
                  <a:srgbClr val="980000"/>
                </a:solidFill>
              </a:rPr>
              <a:t>Encoder </a:t>
            </a:r>
            <a:r>
              <a:rPr lang="en">
                <a:solidFill>
                  <a:schemeClr val="dk1"/>
                </a:solidFill>
              </a:rPr>
              <a:t>and 3 </a:t>
            </a:r>
            <a:r>
              <a:rPr lang="en">
                <a:solidFill>
                  <a:srgbClr val="980000"/>
                </a:solidFill>
              </a:rPr>
              <a:t>Decoder </a:t>
            </a:r>
            <a:r>
              <a:rPr lang="en">
                <a:solidFill>
                  <a:schemeClr val="dk1"/>
                </a:solidFill>
              </a:rPr>
              <a:t>blocks, utilizing 8 </a:t>
            </a:r>
            <a:r>
              <a:rPr lang="en">
                <a:solidFill>
                  <a:srgbClr val="980000"/>
                </a:solidFill>
              </a:rPr>
              <a:t>Attention Heads </a:t>
            </a:r>
            <a:r>
              <a:rPr lang="en">
                <a:solidFill>
                  <a:schemeClr val="dk1"/>
                </a:solidFill>
              </a:rPr>
              <a:t>per block to process complex image-text dependencies.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Optimized Non-Linearity :</a:t>
            </a:r>
            <a:r>
              <a:rPr lang="en">
                <a:solidFill>
                  <a:schemeClr val="dk1"/>
                </a:solidFill>
              </a:rPr>
              <a:t> Replaced standard </a:t>
            </a:r>
            <a:r>
              <a:rPr lang="en">
                <a:solidFill>
                  <a:srgbClr val="980000"/>
                </a:solidFill>
              </a:rPr>
              <a:t>ReLU </a:t>
            </a:r>
            <a:r>
              <a:rPr lang="en">
                <a:solidFill>
                  <a:schemeClr val="dk1"/>
                </a:solidFill>
              </a:rPr>
              <a:t>activations with </a:t>
            </a:r>
            <a:r>
              <a:rPr lang="en">
                <a:solidFill>
                  <a:srgbClr val="980000"/>
                </a:solidFill>
              </a:rPr>
              <a:t>SiLU </a:t>
            </a:r>
            <a:r>
              <a:rPr lang="en">
                <a:solidFill>
                  <a:schemeClr val="dk1"/>
                </a:solidFill>
              </a:rPr>
              <a:t>across all </a:t>
            </a:r>
            <a:r>
              <a:rPr lang="en">
                <a:solidFill>
                  <a:srgbClr val="980000"/>
                </a:solidFill>
              </a:rPr>
              <a:t>Feed-Forward Network (FFN)</a:t>
            </a:r>
            <a:r>
              <a:rPr lang="en">
                <a:solidFill>
                  <a:schemeClr val="dk1"/>
                </a:solidFill>
              </a:rPr>
              <a:t> sublayers to </a:t>
            </a:r>
            <a:r>
              <a:rPr b="1" lang="en">
                <a:solidFill>
                  <a:srgbClr val="008000"/>
                </a:solidFill>
              </a:rPr>
              <a:t>significantly improve gradient flow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Hardware Adaptation &amp; Regularization :</a:t>
            </a:r>
            <a:r>
              <a:rPr lang="en">
                <a:solidFill>
                  <a:schemeClr val="dk1"/>
                </a:solidFill>
              </a:rPr>
              <a:t> Due to the massive parameter increase, batch size was reduced from 64 to 8 to resolve </a:t>
            </a:r>
            <a:r>
              <a:rPr lang="en">
                <a:solidFill>
                  <a:srgbClr val="FF0000"/>
                </a:solidFill>
              </a:rPr>
              <a:t>Kaggle Out-Of-Memory (OOM) errors</a:t>
            </a:r>
            <a:r>
              <a:rPr lang="en">
                <a:solidFill>
                  <a:schemeClr val="dk1"/>
                </a:solidFill>
              </a:rPr>
              <a:t>. Furthermore, </a:t>
            </a:r>
            <a:r>
              <a:rPr lang="en">
                <a:solidFill>
                  <a:srgbClr val="980000"/>
                </a:solidFill>
              </a:rPr>
              <a:t>L2 Regularization</a:t>
            </a:r>
            <a:r>
              <a:rPr lang="en">
                <a:solidFill>
                  <a:schemeClr val="dk1"/>
                </a:solidFill>
              </a:rPr>
              <a:t>—which </a:t>
            </a:r>
            <a:r>
              <a:rPr lang="en">
                <a:solidFill>
                  <a:srgbClr val="FF0000"/>
                </a:solidFill>
              </a:rPr>
              <a:t>empirically hurt performance</a:t>
            </a:r>
            <a:r>
              <a:rPr lang="en">
                <a:solidFill>
                  <a:schemeClr val="dk1"/>
                </a:solidFill>
              </a:rPr>
              <a:t>—was replaced with a </a:t>
            </a:r>
            <a:r>
              <a:rPr lang="en">
                <a:solidFill>
                  <a:srgbClr val="980000"/>
                </a:solidFill>
              </a:rPr>
              <a:t>Dropout </a:t>
            </a:r>
            <a:r>
              <a:rPr lang="en">
                <a:solidFill>
                  <a:schemeClr val="dk1"/>
                </a:solidFill>
              </a:rPr>
              <a:t>rate of 0.5 to prevent overfitting.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286600" y="1668675"/>
            <a:ext cx="1322700" cy="17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40950" y="2943325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Encoder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40950" y="2360950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Encoder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40950" y="1778575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Encoder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38050" y="3682475"/>
            <a:ext cx="1219800" cy="53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EfficientNet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(CNN)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40950" y="4479175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Images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2972050" y="4479175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Captions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2666950" y="1649075"/>
            <a:ext cx="1624200" cy="53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Fully Connected Layers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2817700" y="2360950"/>
            <a:ext cx="1322700" cy="174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2972050" y="3635600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Decoder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2972050" y="3053225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Decoder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2972050" y="2470850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Decoder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2972050" y="1075200"/>
            <a:ext cx="1014000" cy="393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Output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0" name="Google Shape;120;p18"/>
          <p:cNvCxnSpPr>
            <a:stCxn id="112" idx="0"/>
            <a:endCxn id="111" idx="2"/>
          </p:cNvCxnSpPr>
          <p:nvPr/>
        </p:nvCxnSpPr>
        <p:spPr>
          <a:xfrm rot="10800000">
            <a:off x="947950" y="4213975"/>
            <a:ext cx="0" cy="2652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>
            <a:stCxn id="111" idx="0"/>
            <a:endCxn id="108" idx="2"/>
          </p:cNvCxnSpPr>
          <p:nvPr/>
        </p:nvCxnSpPr>
        <p:spPr>
          <a:xfrm rot="10800000">
            <a:off x="947950" y="3336875"/>
            <a:ext cx="0" cy="345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>
            <a:endCxn id="109" idx="2"/>
          </p:cNvCxnSpPr>
          <p:nvPr/>
        </p:nvCxnSpPr>
        <p:spPr>
          <a:xfrm rot="10800000">
            <a:off x="947950" y="2754550"/>
            <a:ext cx="0" cy="188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endCxn id="110" idx="2"/>
          </p:cNvCxnSpPr>
          <p:nvPr/>
        </p:nvCxnSpPr>
        <p:spPr>
          <a:xfrm rot="10800000">
            <a:off x="947950" y="2172175"/>
            <a:ext cx="0" cy="188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>
            <a:stCxn id="113" idx="0"/>
            <a:endCxn id="116" idx="2"/>
          </p:cNvCxnSpPr>
          <p:nvPr/>
        </p:nvCxnSpPr>
        <p:spPr>
          <a:xfrm rot="10800000">
            <a:off x="3479050" y="4029175"/>
            <a:ext cx="0" cy="450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>
            <a:stCxn id="116" idx="0"/>
            <a:endCxn id="117" idx="2"/>
          </p:cNvCxnSpPr>
          <p:nvPr/>
        </p:nvCxnSpPr>
        <p:spPr>
          <a:xfrm rot="10800000">
            <a:off x="3479050" y="3446900"/>
            <a:ext cx="0" cy="188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18"/>
          <p:cNvCxnSpPr>
            <a:stCxn id="117" idx="0"/>
            <a:endCxn id="118" idx="2"/>
          </p:cNvCxnSpPr>
          <p:nvPr/>
        </p:nvCxnSpPr>
        <p:spPr>
          <a:xfrm rot="10800000">
            <a:off x="3479050" y="2864525"/>
            <a:ext cx="0" cy="188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8"/>
          <p:cNvCxnSpPr>
            <a:stCxn id="118" idx="0"/>
            <a:endCxn id="114" idx="2"/>
          </p:cNvCxnSpPr>
          <p:nvPr/>
        </p:nvCxnSpPr>
        <p:spPr>
          <a:xfrm rot="10800000">
            <a:off x="3479050" y="2180750"/>
            <a:ext cx="0" cy="2901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8"/>
          <p:cNvCxnSpPr>
            <a:stCxn id="114" idx="0"/>
            <a:endCxn id="119" idx="2"/>
          </p:cNvCxnSpPr>
          <p:nvPr/>
        </p:nvCxnSpPr>
        <p:spPr>
          <a:xfrm rot="10800000">
            <a:off x="3479050" y="1468775"/>
            <a:ext cx="0" cy="1803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8"/>
          <p:cNvCxnSpPr>
            <a:stCxn id="110" idx="0"/>
            <a:endCxn id="116" idx="1"/>
          </p:cNvCxnSpPr>
          <p:nvPr/>
        </p:nvCxnSpPr>
        <p:spPr>
          <a:xfrm flipH="1" rot="-5400000">
            <a:off x="933100" y="1793425"/>
            <a:ext cx="2053800" cy="2024100"/>
          </a:xfrm>
          <a:prstGeom prst="bentConnector4">
            <a:avLst>
              <a:gd fmla="val -11594" name="adj1"/>
              <a:gd fmla="val 62524" name="adj2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8"/>
          <p:cNvSpPr txBox="1"/>
          <p:nvPr/>
        </p:nvSpPr>
        <p:spPr>
          <a:xfrm rot="-5400000">
            <a:off x="1291279" y="2539557"/>
            <a:ext cx="1484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Cross Attention</a:t>
            </a:r>
            <a:endParaRPr b="1" sz="12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 rot="5400000">
            <a:off x="3545401" y="3077213"/>
            <a:ext cx="1484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Self Attention</a:t>
            </a:r>
            <a:endParaRPr b="1" sz="12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 rot="-5400000">
            <a:off x="-628183" y="2370213"/>
            <a:ext cx="1484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Self Attention</a:t>
            </a:r>
            <a:endParaRPr b="1" sz="1200"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33" name="Google Shape;133;p18"/>
          <p:cNvCxnSpPr/>
          <p:nvPr/>
        </p:nvCxnSpPr>
        <p:spPr>
          <a:xfrm>
            <a:off x="2214462" y="3227950"/>
            <a:ext cx="764100" cy="147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8"/>
          <p:cNvCxnSpPr/>
          <p:nvPr/>
        </p:nvCxnSpPr>
        <p:spPr>
          <a:xfrm>
            <a:off x="2214462" y="2660300"/>
            <a:ext cx="764100" cy="147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Single Layer vs Multi Layer Transformer</a:t>
            </a:r>
            <a:endParaRPr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" name="Google Shape;141;p19" title="Chart"/>
          <p:cNvPicPr preferRelativeResize="0"/>
          <p:nvPr/>
        </p:nvPicPr>
        <p:blipFill rotWithShape="1">
          <a:blip r:embed="rId3">
            <a:alphaModFix/>
          </a:blip>
          <a:srcRect b="0" l="0" r="5015" t="0"/>
          <a:stretch/>
        </p:blipFill>
        <p:spPr>
          <a:xfrm>
            <a:off x="83100" y="959475"/>
            <a:ext cx="2106549" cy="189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 title="Chart"/>
          <p:cNvPicPr preferRelativeResize="0"/>
          <p:nvPr/>
        </p:nvPicPr>
        <p:blipFill rotWithShape="1">
          <a:blip r:embed="rId4">
            <a:alphaModFix/>
          </a:blip>
          <a:srcRect b="0" l="0" r="5015" t="0"/>
          <a:stretch/>
        </p:blipFill>
        <p:spPr>
          <a:xfrm>
            <a:off x="83100" y="2979175"/>
            <a:ext cx="2106549" cy="20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2189650" y="959475"/>
            <a:ext cx="6831600" cy="404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980000"/>
                </a:solidFill>
              </a:rPr>
              <a:t>Significant Gains in Accuracy &amp; Loss:</a:t>
            </a:r>
            <a:r>
              <a:rPr lang="en" sz="1500">
                <a:solidFill>
                  <a:schemeClr val="dk1"/>
                </a:solidFill>
              </a:rPr>
              <a:t> The </a:t>
            </a:r>
            <a:r>
              <a:rPr lang="en" sz="1500">
                <a:solidFill>
                  <a:srgbClr val="980000"/>
                </a:solidFill>
              </a:rPr>
              <a:t>Multi-Layer model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b="1" lang="en" sz="1500">
                <a:solidFill>
                  <a:srgbClr val="008000"/>
                </a:solidFill>
              </a:rPr>
              <a:t>improved accuracy by 13.0% (to 45.43%) </a:t>
            </a:r>
            <a:r>
              <a:rPr lang="en" sz="1500">
                <a:solidFill>
                  <a:schemeClr val="dk1"/>
                </a:solidFill>
              </a:rPr>
              <a:t>and </a:t>
            </a:r>
            <a:r>
              <a:rPr b="1" lang="en" sz="1500">
                <a:solidFill>
                  <a:srgbClr val="008000"/>
                </a:solidFill>
              </a:rPr>
              <a:t>drastically reduced cross-entropy loss by 76.3% (from 15.31 to 3.62)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980000"/>
                </a:solidFill>
              </a:rPr>
              <a:t>Universal BLEU Dominance:</a:t>
            </a:r>
            <a:r>
              <a:rPr lang="en" sz="1500">
                <a:solidFill>
                  <a:schemeClr val="dk1"/>
                </a:solidFill>
              </a:rPr>
              <a:t> The proposed </a:t>
            </a:r>
            <a:r>
              <a:rPr lang="en" sz="1500">
                <a:solidFill>
                  <a:srgbClr val="980000"/>
                </a:solidFill>
              </a:rPr>
              <a:t>Multi-Layer architecture</a:t>
            </a:r>
            <a:r>
              <a:rPr lang="en" sz="1500">
                <a:solidFill>
                  <a:schemeClr val="dk1"/>
                </a:solidFill>
              </a:rPr>
              <a:t> outperformed the </a:t>
            </a:r>
            <a:r>
              <a:rPr lang="en" sz="1500">
                <a:solidFill>
                  <a:srgbClr val="980000"/>
                </a:solidFill>
              </a:rPr>
              <a:t>Single Layer </a:t>
            </a:r>
            <a:r>
              <a:rPr lang="en" sz="1500">
                <a:solidFill>
                  <a:schemeClr val="dk1"/>
                </a:solidFill>
              </a:rPr>
              <a:t>baseline across all evaluation metrics and beam widths, notably achieving a </a:t>
            </a:r>
            <a:r>
              <a:rPr b="1" lang="en" sz="1500">
                <a:solidFill>
                  <a:srgbClr val="008000"/>
                </a:solidFill>
              </a:rPr>
              <a:t>peak BLEU-4 score of 23.83%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rgbClr val="980000"/>
                </a:solidFill>
              </a:rPr>
              <a:t>Multi-Word Phrase Coherence: </a:t>
            </a:r>
            <a:r>
              <a:rPr lang="en" sz="1500">
                <a:solidFill>
                  <a:schemeClr val="dk1"/>
                </a:solidFill>
              </a:rPr>
              <a:t>The </a:t>
            </a:r>
            <a:r>
              <a:rPr lang="en" sz="1500">
                <a:solidFill>
                  <a:srgbClr val="980000"/>
                </a:solidFill>
              </a:rPr>
              <a:t>Multi-Layer model</a:t>
            </a:r>
            <a:r>
              <a:rPr lang="en" sz="1500">
                <a:solidFill>
                  <a:schemeClr val="dk1"/>
                </a:solidFill>
              </a:rPr>
              <a:t> showed a gradual, stable score </a:t>
            </a:r>
            <a:r>
              <a:rPr lang="en" sz="1500">
                <a:solidFill>
                  <a:srgbClr val="FF0000"/>
                </a:solidFill>
              </a:rPr>
              <a:t>decline</a:t>
            </a:r>
            <a:r>
              <a:rPr lang="en" sz="1500">
                <a:solidFill>
                  <a:schemeClr val="dk1"/>
                </a:solidFill>
              </a:rPr>
              <a:t> from BLEU-1 to BLEU-4, proving it generates coherent multi-word phrases. In contrast, the </a:t>
            </a:r>
            <a:r>
              <a:rPr lang="en" sz="1500">
                <a:solidFill>
                  <a:srgbClr val="980000"/>
                </a:solidFill>
              </a:rPr>
              <a:t>Single Layer Model’s </a:t>
            </a:r>
            <a:r>
              <a:rPr lang="en" sz="1500">
                <a:solidFill>
                  <a:srgbClr val="FF0000"/>
                </a:solidFill>
              </a:rPr>
              <a:t>steep decline</a:t>
            </a:r>
            <a:r>
              <a:rPr lang="en" sz="1500">
                <a:solidFill>
                  <a:schemeClr val="dk1"/>
                </a:solidFill>
              </a:rPr>
              <a:t> shows it struggles to maintain context beyond individual tokens.</a:t>
            </a:r>
            <a:endParaRPr sz="7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Layer vs Multi Layer Transformer</a:t>
            </a:r>
            <a:endParaRPr/>
          </a:p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0" name="Google Shape;150;p20"/>
          <p:cNvGraphicFramePr/>
          <p:nvPr/>
        </p:nvGraphicFramePr>
        <p:xfrm>
          <a:off x="234775" y="104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{C6ECFAF6-B85D-457E-8DA2-AC6C7DA3E000}</a:tableStyleId>
              </a:tblPr>
              <a:tblGrid>
                <a:gridCol w="1464475"/>
                <a:gridCol w="1224850"/>
                <a:gridCol w="1464475"/>
                <a:gridCol w="1464475"/>
                <a:gridCol w="1464475"/>
                <a:gridCol w="1437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</a:rPr>
                        <a:t>MODEL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</a:rPr>
                        <a:t>BEAM WIDTH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</a:rPr>
                        <a:t>BLEU-1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</a:rPr>
                        <a:t>BLEU-2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</a:rPr>
                        <a:t>BLEU-3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</a:rPr>
                        <a:t>BLEU-4</a:t>
                      </a:r>
                      <a:endParaRPr b="1" sz="1300">
                        <a:solidFill>
                          <a:srgbClr val="FFFFFF"/>
                        </a:solidFill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Layer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48.85 %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28.06 %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17.85 %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11.37 %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B539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47.26 %</a:t>
                      </a:r>
                      <a:endParaRPr b="1" sz="1300">
                        <a:solidFill>
                          <a:srgbClr val="0B539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B539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27.86 %</a:t>
                      </a:r>
                      <a:endParaRPr b="1" sz="1300">
                        <a:solidFill>
                          <a:srgbClr val="0B539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B539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18.01 %</a:t>
                      </a:r>
                      <a:endParaRPr b="1" sz="1300">
                        <a:solidFill>
                          <a:srgbClr val="0B539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B539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11.46 %</a:t>
                      </a:r>
                      <a:endParaRPr b="1" sz="1300">
                        <a:solidFill>
                          <a:srgbClr val="0B539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45.33 %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26.38 %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16.66 %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10.21 %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44.97 %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26.35 %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16.53 %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9.94 %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EE822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58.24 %</a:t>
                      </a:r>
                      <a:endParaRPr b="1" sz="1300">
                        <a:solidFill>
                          <a:srgbClr val="EE822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EE822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41.07 %</a:t>
                      </a:r>
                      <a:endParaRPr b="1" sz="1300">
                        <a:solidFill>
                          <a:srgbClr val="EE822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EE822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30.96 %</a:t>
                      </a:r>
                      <a:endParaRPr b="1" sz="1300">
                        <a:solidFill>
                          <a:srgbClr val="EE822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EE822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23.83 %</a:t>
                      </a:r>
                      <a:endParaRPr b="1" sz="1300">
                        <a:solidFill>
                          <a:srgbClr val="EE822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57.29 %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40.50 %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30.39 %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23.23 %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55.63 %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39.36 %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29.68 %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22.93 %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Layer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53.86 %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38.05 %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28.82 %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22.39 %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8900" marB="88900" marR="88900" marL="889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Single Layer vs Multi Layer Transformer</a:t>
            </a:r>
            <a:endParaRPr/>
          </a:p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1" title="Chart"/>
          <p:cNvPicPr preferRelativeResize="0"/>
          <p:nvPr/>
        </p:nvPicPr>
        <p:blipFill rotWithShape="1">
          <a:blip r:embed="rId3">
            <a:alphaModFix/>
          </a:blip>
          <a:srcRect b="0" l="0" r="29874" t="0"/>
          <a:stretch/>
        </p:blipFill>
        <p:spPr>
          <a:xfrm>
            <a:off x="5443" y="947150"/>
            <a:ext cx="4726576" cy="4043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4673225" y="1028700"/>
            <a:ext cx="4347900" cy="39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7975" lvl="0" marL="457200" rtl="0" algn="just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250"/>
              <a:buChar char="●"/>
            </a:pPr>
            <a:r>
              <a:rPr b="1" lang="en" sz="1250">
                <a:solidFill>
                  <a:srgbClr val="980000"/>
                </a:solidFill>
              </a:rPr>
              <a:t>Consistent Improvement : </a:t>
            </a:r>
            <a:r>
              <a:rPr lang="en" sz="1250">
                <a:solidFill>
                  <a:schemeClr val="dk1"/>
                </a:solidFill>
              </a:rPr>
              <a:t>The </a:t>
            </a:r>
            <a:r>
              <a:rPr lang="en" sz="1250">
                <a:solidFill>
                  <a:srgbClr val="980000"/>
                </a:solidFill>
              </a:rPr>
              <a:t>Multi Layer Transformer</a:t>
            </a:r>
            <a:r>
              <a:rPr lang="en" sz="1250">
                <a:solidFill>
                  <a:schemeClr val="dk1"/>
                </a:solidFill>
              </a:rPr>
              <a:t> </a:t>
            </a:r>
            <a:r>
              <a:rPr b="1" lang="en" sz="1250">
                <a:solidFill>
                  <a:srgbClr val="008000"/>
                </a:solidFill>
              </a:rPr>
              <a:t>outperformed</a:t>
            </a:r>
            <a:r>
              <a:rPr lang="en" sz="1250">
                <a:solidFill>
                  <a:schemeClr val="dk1"/>
                </a:solidFill>
              </a:rPr>
              <a:t> the </a:t>
            </a:r>
            <a:r>
              <a:rPr lang="en" sz="1250">
                <a:solidFill>
                  <a:srgbClr val="980000"/>
                </a:solidFill>
              </a:rPr>
              <a:t>Single Layer Transformer</a:t>
            </a:r>
            <a:r>
              <a:rPr lang="en" sz="1250">
                <a:solidFill>
                  <a:schemeClr val="dk1"/>
                </a:solidFill>
              </a:rPr>
              <a:t> across all BLEU metrics and all beam widths without exception.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250"/>
              <a:buChar char="●"/>
            </a:pPr>
            <a:r>
              <a:rPr b="1" lang="en" sz="1250">
                <a:solidFill>
                  <a:srgbClr val="980000"/>
                </a:solidFill>
              </a:rPr>
              <a:t>BLEU Scores Improve with Phrase Length :</a:t>
            </a:r>
            <a:r>
              <a:rPr lang="en" sz="1250">
                <a:solidFill>
                  <a:schemeClr val="dk1"/>
                </a:solidFill>
              </a:rPr>
              <a:t> </a:t>
            </a:r>
            <a:r>
              <a:rPr b="1" lang="en" sz="1250">
                <a:solidFill>
                  <a:srgbClr val="008000"/>
                </a:solidFill>
              </a:rPr>
              <a:t>Improvement grows progressively</a:t>
            </a:r>
            <a:r>
              <a:rPr lang="en" sz="1250">
                <a:solidFill>
                  <a:schemeClr val="dk1"/>
                </a:solidFill>
              </a:rPr>
              <a:t> from BLEU-1 to BLEU-4, indicating more coherent and fluent multi-word caption generation.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250"/>
              <a:buChar char="●"/>
            </a:pPr>
            <a:r>
              <a:rPr b="1" lang="en" sz="1250">
                <a:solidFill>
                  <a:srgbClr val="980000"/>
                </a:solidFill>
              </a:rPr>
              <a:t>Competitive with Published Baselines :</a:t>
            </a:r>
            <a:r>
              <a:rPr lang="en" sz="1250">
                <a:solidFill>
                  <a:schemeClr val="dk1"/>
                </a:solidFill>
              </a:rPr>
              <a:t> The </a:t>
            </a:r>
            <a:r>
              <a:rPr lang="en" sz="1250">
                <a:solidFill>
                  <a:srgbClr val="980000"/>
                </a:solidFill>
              </a:rPr>
              <a:t>Multi Layer Transformer's</a:t>
            </a:r>
            <a:r>
              <a:rPr lang="en" sz="1250">
                <a:solidFill>
                  <a:schemeClr val="dk1"/>
                </a:solidFill>
              </a:rPr>
              <a:t> BLEU scores are </a:t>
            </a:r>
            <a:r>
              <a:rPr lang="en" sz="1250">
                <a:solidFill>
                  <a:srgbClr val="008000"/>
                </a:solidFill>
              </a:rPr>
              <a:t>competitive </a:t>
            </a:r>
            <a:r>
              <a:rPr lang="en" sz="1250">
                <a:solidFill>
                  <a:schemeClr val="dk1"/>
                </a:solidFill>
              </a:rPr>
              <a:t>with published baselines on remote sensing image captioning tasks.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1250"/>
              <a:buChar char="●"/>
            </a:pPr>
            <a:r>
              <a:rPr b="1" lang="en" sz="1250">
                <a:solidFill>
                  <a:srgbClr val="980000"/>
                </a:solidFill>
              </a:rPr>
              <a:t>Collective Effect of Modifications : </a:t>
            </a:r>
            <a:r>
              <a:rPr lang="en" sz="1250">
                <a:solidFill>
                  <a:schemeClr val="dk1"/>
                </a:solidFill>
              </a:rPr>
              <a:t>The gains result from the combined effect of the </a:t>
            </a:r>
            <a:r>
              <a:rPr lang="en" sz="1250">
                <a:solidFill>
                  <a:srgbClr val="980000"/>
                </a:solidFill>
              </a:rPr>
              <a:t>multi-layer stack</a:t>
            </a:r>
            <a:r>
              <a:rPr lang="en" sz="1250">
                <a:solidFill>
                  <a:schemeClr val="dk1"/>
                </a:solidFill>
              </a:rPr>
              <a:t>, </a:t>
            </a:r>
            <a:r>
              <a:rPr lang="en" sz="1250">
                <a:solidFill>
                  <a:srgbClr val="980000"/>
                </a:solidFill>
              </a:rPr>
              <a:t>multiple attention heads</a:t>
            </a:r>
            <a:r>
              <a:rPr lang="en" sz="1250">
                <a:solidFill>
                  <a:schemeClr val="dk1"/>
                </a:solidFill>
              </a:rPr>
              <a:t>, </a:t>
            </a:r>
            <a:r>
              <a:rPr lang="en" sz="1250">
                <a:solidFill>
                  <a:srgbClr val="980000"/>
                </a:solidFill>
              </a:rPr>
              <a:t>EfficientNetB7</a:t>
            </a:r>
            <a:r>
              <a:rPr lang="en" sz="1250">
                <a:solidFill>
                  <a:schemeClr val="dk1"/>
                </a:solidFill>
              </a:rPr>
              <a:t>, </a:t>
            </a:r>
            <a:r>
              <a:rPr lang="en" sz="1250">
                <a:solidFill>
                  <a:srgbClr val="980000"/>
                </a:solidFill>
              </a:rPr>
              <a:t>SiLU</a:t>
            </a:r>
            <a:r>
              <a:rPr lang="en" sz="1250">
                <a:solidFill>
                  <a:schemeClr val="dk1"/>
                </a:solidFill>
              </a:rPr>
              <a:t> activations, </a:t>
            </a:r>
            <a:r>
              <a:rPr lang="en" sz="1250">
                <a:solidFill>
                  <a:srgbClr val="980000"/>
                </a:solidFill>
              </a:rPr>
              <a:t>Label Smoothing</a:t>
            </a:r>
            <a:r>
              <a:rPr lang="en" sz="1250">
                <a:solidFill>
                  <a:schemeClr val="dk1"/>
                </a:solidFill>
              </a:rPr>
              <a:t>, and length-normalised </a:t>
            </a:r>
            <a:r>
              <a:rPr lang="en" sz="1250">
                <a:solidFill>
                  <a:srgbClr val="980000"/>
                </a:solidFill>
              </a:rPr>
              <a:t>Beam Search</a:t>
            </a:r>
            <a:r>
              <a:rPr lang="en" sz="1250">
                <a:solidFill>
                  <a:schemeClr val="dk1"/>
                </a:solidFill>
              </a:rPr>
              <a:t>.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Performance </a:t>
            </a:r>
            <a:r>
              <a:rPr lang="en"/>
              <a:t>Comparison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4572000" y="1010175"/>
            <a:ext cx="4260300" cy="388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Exceptional BLEU-4 Gains :</a:t>
            </a:r>
            <a:r>
              <a:rPr lang="en">
                <a:solidFill>
                  <a:schemeClr val="dk1"/>
                </a:solidFill>
              </a:rPr>
              <a:t> The Multi-Layer model achieved a </a:t>
            </a:r>
            <a:r>
              <a:rPr b="1" lang="en">
                <a:solidFill>
                  <a:srgbClr val="008000"/>
                </a:solidFill>
              </a:rPr>
              <a:t>107.9% relative improvement</a:t>
            </a:r>
            <a:r>
              <a:rPr lang="en">
                <a:solidFill>
                  <a:schemeClr val="dk1"/>
                </a:solidFill>
              </a:rPr>
              <a:t> at BLEU-4, more than doubling the baseline score.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just"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Significance of the BLEU-4 Metric :</a:t>
            </a:r>
            <a:r>
              <a:rPr lang="en">
                <a:solidFill>
                  <a:schemeClr val="dk1"/>
                </a:solidFill>
              </a:rPr>
              <a:t> As the strictest metric requiring exact 4-word sequence matches, this massive leap proves the model is not just guessing isolated words, but possesses genuine contextual comprehension and syntactic fluency.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just">
              <a:spcBef>
                <a:spcPts val="1000"/>
              </a:spcBef>
              <a:spcAft>
                <a:spcPts val="1000"/>
              </a:spcAft>
              <a:buClr>
                <a:srgbClr val="980000"/>
              </a:buClr>
              <a:buSzPct val="100000"/>
              <a:buChar char="●"/>
            </a:pPr>
            <a:r>
              <a:rPr b="1" lang="en">
                <a:solidFill>
                  <a:srgbClr val="980000"/>
                </a:solidFill>
              </a:rPr>
              <a:t>Competitive Baseline Performance :</a:t>
            </a:r>
            <a:r>
              <a:rPr lang="en">
                <a:solidFill>
                  <a:schemeClr val="dk1"/>
                </a:solidFill>
              </a:rPr>
              <a:t> The </a:t>
            </a:r>
            <a:r>
              <a:rPr b="1" lang="en">
                <a:solidFill>
                  <a:srgbClr val="008000"/>
                </a:solidFill>
              </a:rPr>
              <a:t>peak BLEU-4 score of 23.83%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lang="en">
                <a:solidFill>
                  <a:srgbClr val="008000"/>
                </a:solidFill>
              </a:rPr>
              <a:t>highly competitive</a:t>
            </a:r>
            <a:r>
              <a:rPr lang="en">
                <a:solidFill>
                  <a:schemeClr val="dk1"/>
                </a:solidFill>
              </a:rPr>
              <a:t> with published research on satellite image captioning tasks.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" name="Google Shape;16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6" name="Google Shape;166;p22"/>
          <p:cNvGraphicFramePr/>
          <p:nvPr/>
        </p:nvGraphicFramePr>
        <p:xfrm>
          <a:off x="238180" y="1785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{F1F6347D-4881-4EB9-AE7B-9D2230DB2871}</a:tableStyleId>
              </a:tblPr>
              <a:tblGrid>
                <a:gridCol w="1085450"/>
                <a:gridCol w="1085450"/>
                <a:gridCol w="1085450"/>
                <a:gridCol w="108545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Metric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Single Layer (K=2)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Multi Layer (K=1)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63500" marB="63500" marR="63500" marL="63500" anchor="ctr">
                    <a:solidFill>
                      <a:srgbClr val="980000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40.21 %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45.43 %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+13%</a:t>
                      </a:r>
                      <a:endParaRPr b="1" sz="1200">
                        <a:solidFill>
                          <a:srgbClr val="008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15.3162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3.6234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- 76.3%</a:t>
                      </a:r>
                      <a:endParaRPr b="1" sz="1200">
                        <a:solidFill>
                          <a:srgbClr val="008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BLEU-1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47.26 %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58.24 %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+23.2%</a:t>
                      </a:r>
                      <a:endParaRPr b="1" sz="1200">
                        <a:solidFill>
                          <a:srgbClr val="008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BLEU-2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27.86 %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41.07 %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+47.4%</a:t>
                      </a:r>
                      <a:endParaRPr b="1" sz="1200">
                        <a:solidFill>
                          <a:srgbClr val="008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BLEU-3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18.01 %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30.96 %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+71.09%</a:t>
                      </a:r>
                      <a:endParaRPr b="1" sz="1200">
                        <a:solidFill>
                          <a:srgbClr val="008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BLEU-4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11.46 %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23.83 %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+107.9%</a:t>
                      </a:r>
                      <a:endParaRPr b="1" sz="1200">
                        <a:solidFill>
                          <a:srgbClr val="008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</a:t>
            </a:r>
            <a:r>
              <a:rPr lang="en"/>
              <a:t>Comparison</a:t>
            </a:r>
            <a:endParaRPr/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3" name="Google Shape;173;p23"/>
          <p:cNvGraphicFramePr/>
          <p:nvPr/>
        </p:nvGraphicFramePr>
        <p:xfrm>
          <a:off x="83100" y="103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947075"/>
                <a:gridCol w="1761875"/>
              </a:tblGrid>
              <a:tr h="2552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Single Layer Caption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many green trees and several buildings are around a playground 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Multi Layer Caption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many buildings and some green trees are around a stadium 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64" y="1102450"/>
            <a:ext cx="2198000" cy="219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/>
          <p:nvPr/>
        </p:nvSpPr>
        <p:spPr>
          <a:xfrm>
            <a:off x="115013" y="3271046"/>
            <a:ext cx="26451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Tokyo Olympics Stadium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76" name="Google Shape;176;p23"/>
          <p:cNvGraphicFramePr/>
          <p:nvPr/>
        </p:nvGraphicFramePr>
        <p:xfrm>
          <a:off x="3003621" y="1015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947075"/>
                <a:gridCol w="1761875"/>
              </a:tblGrid>
              <a:tr h="2552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Single Layer Caption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some green buildings and trees are close to a road </a:t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Multi Layer Caption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some buildings and green trees are in a medium residential area </a:t>
                      </a:r>
                      <a:endParaRPr b="1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3"/>
          <p:cNvGraphicFramePr/>
          <p:nvPr/>
        </p:nvGraphicFramePr>
        <p:xfrm>
          <a:off x="5928184" y="101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947075"/>
                <a:gridCol w="1761875"/>
              </a:tblGrid>
              <a:tr h="25525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Single Layer Caption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several cars are parked in a parking lot </a:t>
                      </a:r>
                      <a:endParaRPr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Multi Layer Caption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three planes are parked on an airport </a:t>
                      </a:r>
                      <a:endParaRPr b="1" sz="1200"/>
                    </a:p>
                  </a:txBody>
                  <a:tcPr marT="63500" marB="63500" marR="63500" marL="635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5633" y="1102441"/>
            <a:ext cx="2198000" cy="219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3052246" y="3271046"/>
            <a:ext cx="26451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Residential Area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1088" y="110048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5960075" y="3271046"/>
            <a:ext cx="26451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Dulles International Airport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83100" y="222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Captioning The 2026 IRAN WAR Conflict Zones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88" name="Google Shape;188;p24"/>
          <p:cNvGraphicFramePr/>
          <p:nvPr/>
        </p:nvGraphicFramePr>
        <p:xfrm>
          <a:off x="102975" y="1527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807200"/>
                <a:gridCol w="1982850"/>
              </a:tblGrid>
              <a:tr h="22645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Caption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several boats are in a port near a dock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9" name="Google Shape;18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25" y="1635219"/>
            <a:ext cx="2691375" cy="163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/>
        </p:nvSpPr>
        <p:spPr>
          <a:xfrm>
            <a:off x="153225" y="3263169"/>
            <a:ext cx="2691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frigate on fire at the Konarak naval base in Iran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1" name="Google Shape;191;p24"/>
          <p:cNvGraphicFramePr/>
          <p:nvPr/>
        </p:nvGraphicFramePr>
        <p:xfrm>
          <a:off x="3167459" y="1527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807225"/>
                <a:gridCol w="1982825"/>
              </a:tblGrid>
              <a:tr h="22645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 frigate on fire at the Konarak naval base in Iran</a:t>
                      </a:r>
                      <a:endParaRPr sz="12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Caption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many storage tanks are close to several buildings </a:t>
                      </a:r>
                      <a:endParaRPr sz="12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2" name="Google Shape;192;p24"/>
          <p:cNvGraphicFramePr/>
          <p:nvPr/>
        </p:nvGraphicFramePr>
        <p:xfrm>
          <a:off x="6250975" y="1513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{1420034C-0543-4219-980B-697185BECB67}</a:tableStyleId>
              </a:tblPr>
              <a:tblGrid>
                <a:gridCol w="792475"/>
                <a:gridCol w="1997575"/>
              </a:tblGrid>
              <a:tr h="2264575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22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Caption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many planes are parked in an airport near a road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3" name="Google Shape;19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1525" y="1635219"/>
            <a:ext cx="2691300" cy="15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/>
        </p:nvSpPr>
        <p:spPr>
          <a:xfrm>
            <a:off x="3226350" y="3263169"/>
            <a:ext cx="26913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Damage at naval facilities in Bushehr, Iran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9100" y="1621135"/>
            <a:ext cx="2691375" cy="157437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6309650" y="3246307"/>
            <a:ext cx="2691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destroyed aircraft at Bushehr airbase, Iran</a:t>
            </a:r>
            <a:endParaRPr sz="2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